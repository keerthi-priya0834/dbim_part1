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08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a digital process for student fee payment and confirmation, built using the DBIM Session 1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capstone moves from the TechNova training example to a real support function: the College Accounts / Finance office. I spoke with Accounts Office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field of the charter: who owns it, what value is expected, which data is used, and where the scope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support problem in three points, then the objective. No numbers are used because none were collected.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sprint-sized use cases. Each one delivers value on its own. Total sprint length per use case is shown in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flow goes dashboard, payment, confirmation, receipt. The one dependency: confirmation needs online payment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six candidates from the worksheet. Each is scored on three criteria in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candidate is scored 1 to 5 on three criteria. Total is out of 15. Student Fee Dashboard scores highest.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Fee Dashboard scored the maximum on all three criteria: 15 out of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points summarize the value the capstone expects to deliver.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data sources feed the use case. Fee payment and digital receipt generation are in scope; scholarship processing and fee refunds are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five takeaways.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Student Fee Payment &amp; Confirmation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2494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DBIM Capstone 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: Keerthi Priya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027932"/>
            <a:ext cx="283464" cy="283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3886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612" y="4027932"/>
            <a:ext cx="283464" cy="2834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3886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852" y="4027932"/>
            <a:ext cx="283464" cy="28346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80360" y="3886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2092" y="4027932"/>
            <a:ext cx="283464" cy="28346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657600" y="3886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9332" y="4027932"/>
            <a:ext cx="283464" cy="28346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434840" y="3886200"/>
            <a:ext cx="566928" cy="5669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6572" y="4027932"/>
            <a:ext cx="28346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&amp; Support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FUNCTION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423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Accounts / Finance support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291840" y="12344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520440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600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52044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INTERVIEWED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3520440" y="2423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Office Staff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126480" y="123444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6355080" y="14630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6002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550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6355080" y="24231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Student Fee Payment &amp; Confirmation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capstone applies DBIM tools to a real support function: SSOT Use Case Charter, Bite-Sized Value Chain, and Discovery → Rationalization.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D1. SSOT Use Case Charter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Student Fee Payment &amp; Confirmation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College Accounts / Finance Manager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Support Lead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/ value hypothesis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manual fee-payment support requests and provide instant payment confirmation to students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Fee Records, Payment Records, Student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boundary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payment and digital receipt generation; excludes scholarship processing and fee refunds.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fee-payment support requests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889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instant payment confirmation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57200" y="352044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947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3566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easier access to fee information and payment status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212080" y="150876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5440680" y="17373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18745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172200" y="1737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440680" y="2468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digital fee-payment support process that makes payment, confirmation, receipt generation, and reminders easier for students.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D2. Bite-Sized Value Chain 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463040" cy="777240"/>
          </a:xfrm>
          <a:prstGeom prst="chevron">
            <a:avLst/>
          </a:prstGeom>
          <a:solidFill>
            <a:srgbClr val="1233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841248" y="1234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|  4 weeks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4460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 Dashboard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fee, paid amount, pending amount, and due date in one place.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810512" y="1234440"/>
            <a:ext cx="1463040" cy="777240"/>
          </a:xfrm>
          <a:prstGeom prst="chevron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2194560" y="1234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5 weeks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130552" y="2286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572" y="24460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10512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 Payment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810512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students to pay their outstanding fee through an online payment option.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163824" y="1234440"/>
            <a:ext cx="1463040" cy="777240"/>
          </a:xfrm>
          <a:prstGeom prst="chevron">
            <a:avLst/>
          </a:prstGeom>
          <a:solidFill>
            <a:srgbClr val="1233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 txBox="1"/>
          <p:nvPr/>
        </p:nvSpPr>
        <p:spPr>
          <a:xfrm>
            <a:off x="3547872" y="1234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3 weeks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83864" y="2286000"/>
            <a:ext cx="640080" cy="640080"/>
          </a:xfrm>
          <a:prstGeom prst="ellipse">
            <a:avLst/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884" y="24460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163824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Confirmation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3163824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successful payment immediately after the transaction.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17136" y="1234440"/>
            <a:ext cx="1463040" cy="777240"/>
          </a:xfrm>
          <a:prstGeom prst="chevron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8"/>
          <p:cNvSpPr txBox="1"/>
          <p:nvPr/>
        </p:nvSpPr>
        <p:spPr>
          <a:xfrm>
            <a:off x="4901184" y="1234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|  3 weeks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37176" y="2286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196" y="244602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17136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Generation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17136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generates and provides a digital fee receipt to the student.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5870448" y="1234440"/>
            <a:ext cx="1463040" cy="777240"/>
          </a:xfrm>
          <a:prstGeom prst="chevron">
            <a:avLst/>
          </a:prstGeom>
          <a:solidFill>
            <a:srgbClr val="12332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3"/>
          <p:cNvSpPr txBox="1"/>
          <p:nvPr/>
        </p:nvSpPr>
        <p:spPr>
          <a:xfrm>
            <a:off x="6254496" y="1234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|  4 weeks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190488" y="2286000"/>
            <a:ext cx="640080" cy="640080"/>
          </a:xfrm>
          <a:prstGeom prst="ellipse">
            <a:avLst/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508" y="244602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870448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 Notification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870448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reminders to students before the fee due date.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7223760" y="1234440"/>
            <a:ext cx="1463040" cy="777240"/>
          </a:xfrm>
          <a:prstGeom prst="chevron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28"/>
          <p:cNvSpPr txBox="1"/>
          <p:nvPr/>
        </p:nvSpPr>
        <p:spPr>
          <a:xfrm>
            <a:off x="7607808" y="1234440"/>
            <a:ext cx="868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|  3 weeks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7543800" y="228600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3820" y="2446020"/>
            <a:ext cx="320040" cy="32004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23760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7223760" y="3657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student feedback on the payment experience to improve the process.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Sequencing and Dependency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66928" y="125272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362456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1887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 Dashboard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240280" y="1792224"/>
            <a:ext cx="274320" cy="246888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457200" y="205740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66928" y="212140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2311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057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 Payment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2240280" y="2660904"/>
            <a:ext cx="274320" cy="246888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566928" y="299008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099816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92608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Confirmation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2240280" y="3529584"/>
            <a:ext cx="274320" cy="246888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457200" y="379476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566928" y="3858768"/>
            <a:ext cx="438912" cy="43891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96849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43000" y="37947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Generation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7E6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13716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257800" y="1344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4846320" y="17830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Confirmation depends on Online Fee Payment being available first.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66344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VALUE CHAIN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663440" y="34290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2"/>
          <p:cNvSpPr/>
          <p:nvPr/>
        </p:nvSpPr>
        <p:spPr>
          <a:xfrm>
            <a:off x="4754880" y="34930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0036" y="3598164"/>
            <a:ext cx="210312" cy="210312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34924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 Notification</a:t>
            </a:r>
            <a:endParaRPr lang="en-US" sz="1500" dirty="0"/>
          </a:p>
        </p:txBody>
      </p:sp>
      <p:sp>
        <p:nvSpPr>
          <p:cNvPr id="33" name="Shape 24"/>
          <p:cNvSpPr/>
          <p:nvPr/>
        </p:nvSpPr>
        <p:spPr>
          <a:xfrm>
            <a:off x="4663440" y="41148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4754880" y="417880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0036" y="4283964"/>
            <a:ext cx="210312" cy="21031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5349240" y="4114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D3. Discovery – Candidate Use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1792" y="144475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5819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1280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 Dashboard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3456432" y="144475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592" y="15819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60520" y="1280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Fee Payment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291072" y="144475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58191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95160" y="128016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Payment Confirmation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24688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621792" y="272491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286207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2560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Generation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3291840" y="24688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3456432" y="272491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28620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4160520" y="2560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 Notification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126480" y="246888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6291072" y="2724912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28620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995160" y="25603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are evaluated using: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416052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 txBox="1"/>
          <p:nvPr/>
        </p:nvSpPr>
        <p:spPr>
          <a:xfrm>
            <a:off x="45720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32" name="Shape 23"/>
          <p:cNvSpPr/>
          <p:nvPr/>
        </p:nvSpPr>
        <p:spPr>
          <a:xfrm>
            <a:off x="3291840" y="416052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4"/>
          <p:cNvSpPr txBox="1"/>
          <p:nvPr/>
        </p:nvSpPr>
        <p:spPr>
          <a:xfrm>
            <a:off x="329184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6126480" y="4160520"/>
            <a:ext cx="2560320" cy="411480"/>
          </a:xfrm>
          <a:prstGeom prst="roundRect">
            <a:avLst>
              <a:gd name="adj" fmla="val 48889"/>
            </a:avLst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6"/>
          <p:cNvSpPr txBox="1"/>
          <p:nvPr/>
        </p:nvSpPr>
        <p:spPr>
          <a:xfrm>
            <a:off x="6126480" y="4160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→ Rationalization Matrix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308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Alignment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Fee 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Fee 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Payment Confirmation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Receipt Generation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Reminder Notification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233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anchor="ctr">
                    <a:lnL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F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criterion scored 1–5; Total out of 15.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Top-Ranked Use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108960" cy="3291840"/>
          </a:xfrm>
          <a:prstGeom prst="roundRect">
            <a:avLst>
              <a:gd name="adj" fmla="val 2353"/>
            </a:avLst>
          </a:prstGeom>
          <a:solidFill>
            <a:srgbClr val="12332F"/>
          </a:solidFill>
          <a:ln w="12700">
            <a:solidFill>
              <a:srgbClr val="12332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691640" y="146304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16230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22860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 Dashboard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5669280" y="130759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7955280" y="1188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0" y="194767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795528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69280" y="2587752"/>
            <a:ext cx="2194560" cy="21945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7955280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931920" y="320040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4160520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4160520" y="3611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total fee, paid amount, pending amount, and due date in one place.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Value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08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fee-payment support requests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352044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0876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2044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instant payment confirmation to students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6355080" y="137160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087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5508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fee information available in one place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685800" y="31546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9184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8580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digital fee receipts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3520440" y="31546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0" y="329184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52044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payment reminders before the fee due date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18"/>
          <p:cNvSpPr/>
          <p:nvPr/>
        </p:nvSpPr>
        <p:spPr>
          <a:xfrm>
            <a:off x="6355080" y="31546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29184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355080" y="3840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 on the payment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33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Boundary and Data Sources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8640" y="148132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158648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 Records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91840" y="14173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383280" y="148132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436" y="158648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3192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26480" y="141732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217920" y="148132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158648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417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Database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57200" y="228600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CFBF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3"/>
          <p:cNvSpPr/>
          <p:nvPr/>
        </p:nvSpPr>
        <p:spPr>
          <a:xfrm>
            <a:off x="685800" y="246888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58318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8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73552"/>
            <a:ext cx="219456" cy="21945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4300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payment</a:t>
            </a:r>
            <a:endParaRPr lang="en-US" sz="1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13632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4300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receipt generation</a:t>
            </a:r>
            <a:endParaRPr lang="en-US" sz="1600" dirty="0"/>
          </a:p>
        </p:txBody>
      </p:sp>
      <p:sp>
        <p:nvSpPr>
          <p:cNvPr id="26" name="Shape 17"/>
          <p:cNvSpPr/>
          <p:nvPr/>
        </p:nvSpPr>
        <p:spPr>
          <a:xfrm>
            <a:off x="4663440" y="228600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EF3F2"/>
          </a:solidFill>
          <a:ln w="9525">
            <a:solidFill>
              <a:srgbClr val="FECDC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18"/>
          <p:cNvSpPr/>
          <p:nvPr/>
        </p:nvSpPr>
        <p:spPr>
          <a:xfrm>
            <a:off x="4892040" y="2468880"/>
            <a:ext cx="457200" cy="45720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340" y="2583180"/>
            <a:ext cx="228600" cy="2286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548640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800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273552"/>
            <a:ext cx="219456" cy="219456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3492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processing</a:t>
            </a:r>
            <a:endParaRPr lang="en-US" sz="16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913632"/>
            <a:ext cx="219456" cy="219456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534924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refunds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3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43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 provides clear ownership, KPI, data sources, and scope.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28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Bite-sized use cases break the broader transformation into manageable sprint-sized activities.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146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Rationalization provides a structured way to evaluate candidate use cases.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00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Fee Dashboard received the highest score of 15/15 in the provided rationalization matrix.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capstone focuses on improving the digital student fee-payment and confirmation experience.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886</Words>
  <Application>Microsoft Office PowerPoint</Application>
  <PresentationFormat>On-screen Show (16:9)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Student Fee Payment &amp; Confirmation</dc:title>
  <dc:subject>PptxGenJS Presentation</dc:subject>
  <dc:creator>Ayodhya Keerthi Priya</dc:creator>
  <cp:lastModifiedBy>Keerthi Priya</cp:lastModifiedBy>
  <cp:revision>4</cp:revision>
  <dcterms:created xsi:type="dcterms:W3CDTF">2026-09-29T17:29:14Z</dcterms:created>
  <dcterms:modified xsi:type="dcterms:W3CDTF">2026-09-29T17:37:00Z</dcterms:modified>
</cp:coreProperties>
</file>